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4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slideMaster14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10.jpeg" ContentType="image/jpeg"/>
  <Override PartName="/ppt/media/image6.jpeg" ContentType="image/jpeg"/>
  <Override PartName="/ppt/media/image11.jpeg" ContentType="image/jpeg"/>
  <Override PartName="/ppt/media/image13.png" ContentType="image/png"/>
  <Override PartName="/ppt/media/image7.jpeg" ContentType="image/jpeg"/>
  <Override PartName="/ppt/media/image12.jpeg" ContentType="image/jpeg"/>
  <Override PartName="/ppt/media/image8.jpeg" ContentType="image/jpeg"/>
  <Override PartName="/ppt/media/image9.jpeg" ContentType="image/jpeg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6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3" r:id="rId4"/>
    <p:sldMasterId id="2147483655" r:id="rId5"/>
    <p:sldMasterId id="2147483657" r:id="rId6"/>
    <p:sldMasterId id="2147483659" r:id="rId7"/>
    <p:sldMasterId id="2147483661" r:id="rId8"/>
    <p:sldMasterId id="2147483663" r:id="rId9"/>
    <p:sldMasterId id="2147483665" r:id="rId10"/>
    <p:sldMasterId id="2147483667" r:id="rId11"/>
    <p:sldMasterId id="2147483669" r:id="rId12"/>
    <p:sldMasterId id="2147483671" r:id="rId13"/>
    <p:sldMasterId id="2147483673" r:id="rId14"/>
    <p:sldMasterId id="2147483679" r:id="rId15"/>
    <p:sldMasterId id="2147483681" r:id="rId16"/>
    <p:sldMasterId id="2147483683" r:id="rId17"/>
    <p:sldMasterId id="2147483685" r:id="rId18"/>
    <p:sldMasterId id="2147483687" r:id="rId19"/>
    <p:sldMasterId id="2147483689" r:id="rId20"/>
    <p:sldMasterId id="2147483691" r:id="rId21"/>
    <p:sldMasterId id="2147483693" r:id="rId22"/>
  </p:sldMasterIdLst>
  <p:sldIdLst>
    <p:sldId id="256" r:id="rId23"/>
    <p:sldId id="257" r:id="rId24"/>
    <p:sldId id="258" r:id="rId25"/>
    <p:sldId id="259" r:id="rId26"/>
    <p:sldId id="260" r:id="rId27"/>
    <p:sldId id="261" r:id="rId28"/>
    <p:sldId id="262" r:id="rId29"/>
    <p:sldId id="263" r:id="rId30"/>
    <p:sldId id="264" r:id="rId31"/>
    <p:sldId id="265" r:id="rId32"/>
    <p:sldId id="266" r:id="rId33"/>
    <p:sldId id="267" r:id="rId3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21" Type="http://schemas.openxmlformats.org/officeDocument/2006/relationships/slideMaster" Target="slideMasters/slideMaster21.xml"/><Relationship Id="rId22" Type="http://schemas.openxmlformats.org/officeDocument/2006/relationships/slideMaster" Target="slideMasters/slideMaster22.xml"/><Relationship Id="rId23" Type="http://schemas.openxmlformats.org/officeDocument/2006/relationships/slide" Target="slides/slide1.xml"/><Relationship Id="rId24" Type="http://schemas.openxmlformats.org/officeDocument/2006/relationships/slide" Target="slides/slide2.xml"/><Relationship Id="rId25" Type="http://schemas.openxmlformats.org/officeDocument/2006/relationships/slide" Target="slides/slide3.xml"/><Relationship Id="rId26" Type="http://schemas.openxmlformats.org/officeDocument/2006/relationships/slide" Target="slides/slide4.xml"/><Relationship Id="rId27" Type="http://schemas.openxmlformats.org/officeDocument/2006/relationships/slide" Target="slides/slide5.xml"/><Relationship Id="rId28" Type="http://schemas.openxmlformats.org/officeDocument/2006/relationships/slide" Target="slides/slide6.xml"/><Relationship Id="rId29" Type="http://schemas.openxmlformats.org/officeDocument/2006/relationships/slide" Target="slides/slide7.xml"/><Relationship Id="rId30" Type="http://schemas.openxmlformats.org/officeDocument/2006/relationships/slide" Target="slides/slide8.xml"/><Relationship Id="rId31" Type="http://schemas.openxmlformats.org/officeDocument/2006/relationships/slide" Target="slides/slide9.xml"/><Relationship Id="rId32" Type="http://schemas.openxmlformats.org/officeDocument/2006/relationships/slide" Target="slides/slide10.xml"/><Relationship Id="rId33" Type="http://schemas.openxmlformats.org/officeDocument/2006/relationships/slide" Target="slides/slide11.xml"/><Relationship Id="rId34" Type="http://schemas.openxmlformats.org/officeDocument/2006/relationships/slide" Target="slides/slide12.xml"/><Relationship Id="rId35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b="0" sz="1300" strike="noStrike" u="none">
                <a:solidFill>
                  <a:srgbClr val="000000"/>
                </a:solidFill>
                <a:uFillTx/>
                <a:latin typeface="Arial"/>
              </a:defRPr>
            </a:pPr>
            <a:r>
              <a:rPr b="0" lang="ru-RU" sz="1860" strike="noStrike" u="none">
                <a:solidFill>
                  <a:srgbClr val="ffffff"/>
                </a:solidFill>
                <a:uFillTx/>
                <a:latin typeface="Calibri"/>
              </a:rPr>
              <a:t>Заглавие диаграммы</a:t>
            </a:r>
          </a:p>
        </c:rich>
      </c:tx>
      <c:layout>
        <c:manualLayout>
          <c:xMode val="edge"/>
          <c:yMode val="edge"/>
          <c:x val="0.675230333097094"/>
          <c:y val="0.904451827242525"/>
        </c:manualLayout>
      </c:layout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rgbClr val="40c0ef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0</c:f>
              <c:numCache>
                <c:formatCode>"Основной"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004185"/>
            </a:solidFill>
            <a:ln w="0">
              <a:noFill/>
            </a:ln>
          </c:spPr>
          <c:invertIfNegative val="0"/>
          <c:dPt>
            <c:idx val="1"/>
            <c:invertIfNegative val="0"/>
            <c:spPr>
              <a:solidFill>
                <a:srgbClr val="00cccc"/>
              </a:solidFill>
              <a:ln w="0">
                <a:noFill/>
              </a:ln>
            </c:spPr>
          </c:dPt>
          <c:dLbls>
            <c:dLbl>
              <c:idx val="1"/>
              <c:txPr>
                <a:bodyPr wrap="non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1</c:f>
              <c:numCache>
                <c:formatCode>"Основной"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rgbClr val="a5a5a5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2</c:f>
              <c:numCache>
                <c:formatCode>"Основной"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gapWidth val="150"/>
        <c:overlap val="0"/>
        <c:axId val="41772757"/>
        <c:axId val="35887440"/>
      </c:barChart>
      <c:catAx>
        <c:axId val="41772757"/>
        <c:scaling>
          <c:orientation val="minMax"/>
        </c:scaling>
        <c:delete val="0"/>
        <c:axPos val="b"/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trike="noStrike" u="none">
                <a:solidFill>
                  <a:srgbClr val="ffffff"/>
                </a:solidFill>
                <a:uFillTx/>
                <a:latin typeface="Calibri"/>
              </a:defRPr>
            </a:pPr>
          </a:p>
        </c:txPr>
        <c:crossAx val="35887440"/>
        <c:crosses val="autoZero"/>
        <c:auto val="1"/>
        <c:lblAlgn val="ctr"/>
        <c:lblOffset val="100"/>
        <c:noMultiLvlLbl val="0"/>
      </c:catAx>
      <c:valAx>
        <c:axId val="35887440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41772757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lang="ru-RU" sz="1195" strike="noStrike" u="none">
              <a:solidFill>
                <a:srgbClr val="595959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b="0" sz="1300" strike="noStrike" u="none">
                <a:solidFill>
                  <a:srgbClr val="000000"/>
                </a:solidFill>
                <a:uFillTx/>
                <a:latin typeface="Arial"/>
              </a:defRPr>
            </a:pPr>
            <a:r>
              <a:rPr b="0" lang="ru-RU" sz="1860" strike="noStrike" u="none">
                <a:solidFill>
                  <a:srgbClr val="595959"/>
                </a:solidFill>
                <a:uFillTx/>
                <a:latin typeface="Calibri"/>
              </a:rPr>
              <a:t>Продажи</a:t>
            </a:r>
          </a:p>
        </c:rich>
      </c:tx>
      <c:overlay val="0"/>
      <c:spPr>
        <a:noFill/>
        <a:ln w="0">
          <a:noFill/>
        </a:ln>
      </c:spPr>
    </c:title>
    <c:autoTitleDeleted val="0"/>
    <c:view3D>
      <c:rotX val="30"/>
      <c:rotY val="0"/>
      <c:rAngAx val="0"/>
      <c:perspective val="30"/>
    </c:view3D>
    <c:floor>
      <c:spPr>
        <a:solidFill>
          <a:srgbClr val="d9d9d9"/>
        </a:solidFill>
        <a:ln w="0">
          <a:noFill/>
        </a:ln>
      </c:spPr>
    </c:floor>
    <c:sideWall>
      <c:spPr>
        <a:solidFill>
          <a:srgbClr val="d9d9d9"/>
        </a:solidFill>
        <a:ln w="0">
          <a:noFill/>
        </a:ln>
      </c:spPr>
    </c:sideWall>
    <c:backWall>
      <c:spPr>
        <a:solidFill>
          <a:srgbClr val="d9d9d9"/>
        </a:solidFill>
        <a:ln w="0">
          <a:noFill/>
        </a:ln>
      </c:spPr>
    </c:backWall>
    <c:plotArea>
      <c:pie3D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Продажи</c:v>
                </c:pt>
              </c:strCache>
            </c:strRef>
          </c:tx>
          <c:spPr>
            <a:solidFill>
              <a:srgbClr val="5b9bd5"/>
            </a:solidFill>
            <a:ln w="0">
              <a:noFill/>
            </a:ln>
          </c:spPr>
          <c:explosion val="0"/>
          <c:dPt>
            <c:idx val="0"/>
            <c:spPr>
              <a:solidFill>
                <a:srgbClr val="00cccc"/>
              </a:solidFill>
              <a:ln w="25560">
                <a:solidFill>
                  <a:srgbClr val="ffffff"/>
                </a:solidFill>
                <a:round/>
              </a:ln>
            </c:spPr>
          </c:dPt>
          <c:dPt>
            <c:idx val="1"/>
            <c:spPr>
              <a:solidFill>
                <a:srgbClr val="1e4590"/>
              </a:solidFill>
              <a:ln w="25560">
                <a:solidFill>
                  <a:srgbClr val="ffffff"/>
                </a:solidFill>
                <a:round/>
              </a:ln>
            </c:spPr>
          </c:dPt>
          <c:dPt>
            <c:idx val="2"/>
            <c:spPr>
              <a:solidFill>
                <a:srgbClr val="40c0ef"/>
              </a:solidFill>
              <a:ln w="25560">
                <a:solidFill>
                  <a:srgbClr val="ffffff"/>
                </a:solidFill>
                <a:round/>
              </a:ln>
            </c:spPr>
          </c:dPt>
          <c:dPt>
            <c:idx val="3"/>
            <c:spPr>
              <a:solidFill>
                <a:srgbClr val="f0dc81"/>
              </a:solidFill>
              <a:ln w="25560">
                <a:solidFill>
                  <a:srgbClr val="ffffff"/>
                </a:solidFill>
                <a:round/>
              </a:ln>
            </c:spPr>
          </c:dPt>
          <c:dLbls>
            <c:dLbl>
              <c:idx val="0"/>
              <c:txPr>
                <a:bodyPr wrap="non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1"/>
              <c:txPr>
                <a:bodyPr wrap="non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2"/>
              <c:txPr>
                <a:bodyPr wrap="non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3"/>
              <c:txPr>
                <a:bodyPr wrap="non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bestFit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</c:dLbls>
          <c:cat>
            <c:strRef>
              <c:f>categories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0</c:f>
              <c:numCache>
                <c:formatCode>"Основной"</c:formatCode>
                <c:ptCount val="4"/>
                <c:pt idx="0">
                  <c:v>8.2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</c:ser>
      </c:pie3DChart>
    </c:plotArea>
    <c:legend>
      <c:legendPos val="b"/>
      <c:overlay val="0"/>
      <c:spPr>
        <a:solidFill>
          <a:srgbClr val="40c0ef"/>
        </a:solidFill>
        <a:ln w="0">
          <a:noFill/>
        </a:ln>
      </c:spPr>
      <c:txPr>
        <a:bodyPr/>
        <a:lstStyle/>
        <a:p>
          <a:pPr>
            <a:defRPr b="0" lang="ru-RU" sz="1195" strike="noStrike" u="none">
              <a:solidFill>
                <a:srgbClr val="595959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b="0" sz="1300" strike="noStrike" u="none">
                <a:solidFill>
                  <a:srgbClr val="000000"/>
                </a:solidFill>
                <a:uFillTx/>
                <a:latin typeface="Arial"/>
              </a:defRPr>
            </a:pPr>
            <a:r>
              <a:rPr b="0" lang="ru-RU" sz="1860" strike="noStrike" u="none">
                <a:solidFill>
                  <a:srgbClr val="595959"/>
                </a:solidFill>
                <a:uFillTx/>
                <a:latin typeface="Calibri"/>
              </a:rPr>
              <a:t>Заглавие диаграммы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rgbClr val="4b80b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0</c:f>
              <c:numCache>
                <c:formatCode>"Основной"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5b9bd5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1</c:f>
              <c:numCache>
                <c:formatCode>"Основной"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rgbClr val="adc5e4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2</c:f>
              <c:numCache>
                <c:formatCode>"Основной"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gapWidth val="150"/>
        <c:overlap val="0"/>
        <c:axId val="59460013"/>
        <c:axId val="76092084"/>
      </c:barChart>
      <c:catAx>
        <c:axId val="59460013"/>
        <c:scaling>
          <c:orientation val="minMax"/>
        </c:scaling>
        <c:delete val="0"/>
        <c:axPos val="b"/>
        <c:numFmt formatCode="&quot;Основной&quot;" sourceLinked="0"/>
        <c:majorTickMark val="out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lang="ru-RU" sz="1195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76092084"/>
        <c:crosses val="autoZero"/>
        <c:auto val="1"/>
        <c:lblAlgn val="ctr"/>
        <c:lblOffset val="100"/>
        <c:noMultiLvlLbl val="0"/>
      </c:catAx>
      <c:valAx>
        <c:axId val="76092084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59460013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lang="ru-RU" sz="1195" strike="noStrike" u="none">
              <a:solidFill>
                <a:srgbClr val="595959"/>
              </a:solidFill>
              <a:uFillTx/>
              <a:latin typeface="Calibri"/>
            </a:defRPr>
          </a:pPr>
        </a:p>
      </c:txPr>
    </c:legend>
    <c:plotVisOnly val="1"/>
    <c:dispBlanksAs val="zero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b="0" sz="1300" strike="noStrike" u="none">
                <a:solidFill>
                  <a:srgbClr val="000000"/>
                </a:solidFill>
                <a:uFillTx/>
                <a:latin typeface="Arial"/>
              </a:defRPr>
            </a:pPr>
            <a:r>
              <a:rPr b="0" lang="ru-RU" sz="1860" strike="noStrike" u="none">
                <a:solidFill>
                  <a:srgbClr val="595959"/>
                </a:solidFill>
                <a:uFillTx/>
                <a:latin typeface="Calibri"/>
              </a:rPr>
              <a:t>Заглавие диаграммы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rgbClr val="40c0ef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0</c:f>
              <c:numCache>
                <c:formatCode>"Основной"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ea7551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1</c:f>
              <c:numCache>
                <c:formatCode>"Основной"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rgbClr val="00cccc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2</c:f>
              <c:numCache>
                <c:formatCode>"Основной"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gapWidth val="150"/>
        <c:overlap val="0"/>
        <c:axId val="57246536"/>
        <c:axId val="36487744"/>
      </c:barChart>
      <c:catAx>
        <c:axId val="57246536"/>
        <c:scaling>
          <c:orientation val="minMax"/>
        </c:scaling>
        <c:delete val="0"/>
        <c:axPos val="b"/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36487744"/>
        <c:crosses val="autoZero"/>
        <c:auto val="1"/>
        <c:lblAlgn val="ctr"/>
        <c:lblOffset val="100"/>
        <c:noMultiLvlLbl val="0"/>
      </c:catAx>
      <c:valAx>
        <c:axId val="36487744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57246536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lang="ru-RU" sz="1195" strike="noStrike" u="none">
              <a:solidFill>
                <a:srgbClr val="595959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E45F8D3-7FEE-49EB-8B1C-1FE3CA20367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Заголовок и объект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CD0C4BF0-7FA2-41B0-94F6-E3DE4D217CCB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sldNum" idx="8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70001553-08F8-4DB2-87DE-B3D67C3DDAEE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7C3E3C4-4BED-4BCC-8C55-94CE54298C5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FF3602A-CEF2-4773-94A5-09D33624F0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0CF1CCA-2051-4E77-A7B5-E99DC734F8E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23B4F18-BF92-4797-816B-3C185033720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724071A-4C18-4A15-9DBF-B6F2D1C9AEB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FF54C1C-6ECC-48AD-A9A5-16C035CFF00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BF68931-1275-4C68-BC61-BE0FFC7C516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881F005-55BF-45FF-9777-24715AD0D3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FF24FD95-5E7B-4423-B4E3-5565079B2C6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D7114E7-6C88-4903-B52F-600DD8E43FD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FFA2B389-DD77-4713-93C1-4D3BCD594F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508A2849-44E1-4C5A-9409-B4A46CDB163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CA288926-29A9-4E73-8B83-5B671873795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9737F025-138D-40F2-A08D-E53EA5AAA95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41ABFBD1-634C-4E6D-8F6F-A8768B95B45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5E1AAE79-D726-4E6A-822A-14BCF5EA88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330CC474-0195-4599-ABA8-099251617A1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01FEAE9B-4CCD-4F6B-8763-59A8A18B996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DA7D259E-6918-4125-B5F5-64623027F1C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753375A9-78B1-4ED7-B2B1-8D85447EBCA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65E81033-2FCB-40A8-8689-1960C7D5283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93728DB7-C18C-4702-AD7C-364434A4980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5"/>
          </p:nvPr>
        </p:nvSpPr>
        <p:spPr/>
        <p:txBody>
          <a:bodyPr/>
          <a:p>
            <a:fld id="{86690BBB-D9E0-4E7C-9F1A-B13850DD56A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6.jpeg"/><Relationship Id="rId3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7.jpeg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8.jpe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0.jpeg"/><Relationship Id="rId3" Type="http://schemas.openxmlformats.org/officeDocument/2006/relationships/slideLayout" Target="../slideLayouts/slideLayout19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1.jpeg"/><Relationship Id="rId3" Type="http://schemas.openxmlformats.org/officeDocument/2006/relationships/slideLayout" Target="../slideLayouts/slideLayout20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2.jpeg"/><Relationship Id="rId3" Type="http://schemas.openxmlformats.org/officeDocument/2006/relationships/slideLayout" Target="../slideLayouts/slideLayout21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2.jpeg"/><Relationship Id="rId3" Type="http://schemas.openxmlformats.org/officeDocument/2006/relationships/slideLayout" Target="../slideLayouts/slideLayout22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2.jpeg"/><Relationship Id="rId3" Type="http://schemas.openxmlformats.org/officeDocument/2006/relationships/chart" Target="../charts/chart1.xml"/><Relationship Id="rId4" Type="http://schemas.openxmlformats.org/officeDocument/2006/relationships/slideLayout" Target="../slideLayouts/slideLayout23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2.jpeg"/><Relationship Id="rId3" Type="http://schemas.openxmlformats.org/officeDocument/2006/relationships/chart" Target="../charts/chart2.xml"/><Relationship Id="rId4" Type="http://schemas.openxmlformats.org/officeDocument/2006/relationships/slideLayout" Target="../slideLayouts/slideLayout24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2.jpeg"/><Relationship Id="rId3" Type="http://schemas.openxmlformats.org/officeDocument/2006/relationships/chart" Target="../charts/chart3.xml"/><Relationship Id="rId4" Type="http://schemas.openxmlformats.org/officeDocument/2006/relationships/slideLayout" Target="../slideLayouts/slideLayout25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2.jpeg"/><Relationship Id="rId3" Type="http://schemas.openxmlformats.org/officeDocument/2006/relationships/chart" Target="../charts/chart4.xml"/><Relationship Id="rId4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7AB7A7CC-CA19-4C78-99CA-351CF6B57D69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sldNum" idx="11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58FE7D8-191A-484D-B153-2C752C9B3715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4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90C655A7-03EE-45A4-80B2-153D38A7ED6F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6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17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149EC3F2-AFF8-4B06-B22B-2A2A32E67C80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20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ADB9F549-CFB5-4458-85CD-E528951DDFA8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23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D57C8B77-8ED8-4A66-ADB8-C05D3AF202F1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F1626B73-2250-4B1E-98EF-1C0D06790B1C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9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63202754-858F-4F42-BCF6-E41CB46A6C9C}" type="slidenum"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1</a:t>
            </a:fld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sldNum" idx="32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4BEFD5F7-525B-4453-98B3-136CDF322300}" type="slidenum"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ldNum" idx="35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5A30F03A-6AC9-4647-9F1C-6F838604C3DC}" type="slidenum"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sldNum" idx="38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18C99C9A-FCED-4933-9A21-7F969159AB01}" type="slidenum"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sldNum" idx="41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9FF4AC53-7FDD-43C1-A84A-3C495984E953}" type="slidenum"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3"/>
    <p:sldLayoutId id="2147483675" r:id="rId4"/>
    <p:sldLayoutId id="2147483676" r:id="rId5"/>
    <p:sldLayoutId id="2147483677" r:id="rId6"/>
    <p:sldLayoutId id="2147483678" r:id="rId7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sldNum" idx="44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7B62564-3ABD-44E1-A2DB-6B095123668B}" type="slidenum"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0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sldNum" idx="47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05B3A06-2E72-47C9-8601-6AF75DA72CD4}" type="slidenum"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4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5"/>
          <p:cNvSpPr>
            <a:spLocks noGrp="1"/>
          </p:cNvSpPr>
          <p:nvPr>
            <p:ph type="sldNum" idx="50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4287B4F2-008A-4007-A952-9CA237059AD9}" type="slidenum"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6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sldNum" idx="53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B004280E-C781-4CBF-BD09-29723A975123}" type="slidenum"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6" r:id="rId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1" name="Диаграмма 8"/>
          <p:cNvGraphicFramePr/>
          <p:nvPr/>
        </p:nvGraphicFramePr>
        <p:xfrm>
          <a:off x="2031840" y="719640"/>
          <a:ext cx="8127000" cy="541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sldNum" idx="56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2CE5A5DF-E973-44FF-91D7-2CC2A0888BF2}" type="slidenum"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4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7" name="Диаграмма 7"/>
          <p:cNvGraphicFramePr/>
          <p:nvPr/>
        </p:nvGraphicFramePr>
        <p:xfrm>
          <a:off x="2031840" y="719640"/>
          <a:ext cx="8127000" cy="541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8" name="PlaceHolder 1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ldNum" idx="59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BA3A98FD-D967-41AC-BC29-4DFC33F345D6}" type="slidenum"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4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1" name="Диаграмма 10"/>
          <p:cNvGraphicFramePr/>
          <p:nvPr/>
        </p:nvGraphicFramePr>
        <p:xfrm>
          <a:off x="2031840" y="719640"/>
          <a:ext cx="8127000" cy="541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2" name="PlaceHolder 1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sldNum" idx="62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AABA74CC-A45B-4ADF-85B8-4C10CAA731F5}" type="slidenum"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2" r:id="rId4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" name="Диаграмма 11"/>
          <p:cNvGraphicFramePr/>
          <p:nvPr/>
        </p:nvGraphicFramePr>
        <p:xfrm>
          <a:off x="2031840" y="719640"/>
          <a:ext cx="8127000" cy="541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6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ldNum" idx="65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FBDCF172-895B-4EB5-969B-B9472FB0682E}" type="slidenum"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"/>
          <p:cNvSpPr txBox="1"/>
          <p:nvPr/>
        </p:nvSpPr>
        <p:spPr>
          <a:xfrm>
            <a:off x="5781600" y="2901960"/>
            <a:ext cx="6501240" cy="1986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ru-RU" sz="32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Праздничная презентация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7276320" y="3544200"/>
            <a:ext cx="3908880" cy="385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Корнеев Андрей 201С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/>
          <p:nvPr/>
        </p:nvSpPr>
        <p:spPr>
          <a:xfrm>
            <a:off x="914400" y="1371600"/>
            <a:ext cx="6400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23 Февраля: День защитника Отечества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2"/>
          <p:cNvSpPr/>
          <p:nvPr/>
        </p:nvSpPr>
        <p:spPr>
          <a:xfrm>
            <a:off x="914400" y="2560320"/>
            <a:ext cx="6400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История праздника уходит корнями в 1918 год.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Сегодня это день чествования всех, кто служил и служит в вооруженных силах.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Праздник символизирует мужество и верность долгу.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Picture 3" descr="cat_generated.png"/>
          <p:cNvPicPr/>
          <p:nvPr/>
        </p:nvPicPr>
        <p:blipFill>
          <a:blip r:embed="rId1"/>
          <a:stretch/>
        </p:blipFill>
        <p:spPr>
          <a:xfrm>
            <a:off x="7498080" y="1828800"/>
            <a:ext cx="4114440" cy="41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914400" y="1371600"/>
            <a:ext cx="6400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Героизм и мужество поколений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2"/>
          <p:cNvSpPr/>
          <p:nvPr/>
        </p:nvSpPr>
        <p:spPr>
          <a:xfrm>
            <a:off x="914400" y="2560320"/>
            <a:ext cx="6400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Защитники Отечества — это не только военнослужащие.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Мы вспоминаем подвиги предков в Великой Отечественной войне.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Сила духа остается неизменным качеством.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Picture 3" descr="cat_generated.png"/>
          <p:cNvPicPr/>
          <p:nvPr/>
        </p:nvPicPr>
        <p:blipFill>
          <a:blip r:embed="rId1"/>
          <a:stretch/>
        </p:blipFill>
        <p:spPr>
          <a:xfrm>
            <a:off x="7498080" y="1828800"/>
            <a:ext cx="4114440" cy="41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Box 1"/>
          <p:cNvSpPr/>
          <p:nvPr/>
        </p:nvSpPr>
        <p:spPr>
          <a:xfrm>
            <a:off x="914400" y="1371600"/>
            <a:ext cx="6400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Традиции празднования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2"/>
          <p:cNvSpPr/>
          <p:nvPr/>
        </p:nvSpPr>
        <p:spPr>
          <a:xfrm>
            <a:off x="914400" y="2560320"/>
            <a:ext cx="6400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В этот день возлагают цветы к мемориалам славы.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Проходят парады и торжественные концерты.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Это время для укрепления семейных ценностей.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9" name="Picture 3" descr="cat_generated.png"/>
          <p:cNvPicPr/>
          <p:nvPr/>
        </p:nvPicPr>
        <p:blipFill>
          <a:blip r:embed="rId1"/>
          <a:stretch/>
        </p:blipFill>
        <p:spPr>
          <a:xfrm>
            <a:off x="7498080" y="1828800"/>
            <a:ext cx="4114440" cy="41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Box 1"/>
          <p:cNvSpPr/>
          <p:nvPr/>
        </p:nvSpPr>
        <p:spPr>
          <a:xfrm>
            <a:off x="914400" y="1371600"/>
            <a:ext cx="6400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8 Марта: Международный женский день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2"/>
          <p:cNvSpPr/>
          <p:nvPr/>
        </p:nvSpPr>
        <p:spPr>
          <a:xfrm>
            <a:off x="914400" y="2560320"/>
            <a:ext cx="6400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Праздник посвящен достижениям женщин во всем мире.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В России это символ весны и уважения к женщине.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Дата утверждена ООН как день борьбы за права женщин.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Picture 3" descr="cat_generated.png"/>
          <p:cNvPicPr/>
          <p:nvPr/>
        </p:nvPicPr>
        <p:blipFill>
          <a:blip r:embed="rId1"/>
          <a:stretch/>
        </p:blipFill>
        <p:spPr>
          <a:xfrm>
            <a:off x="7498080" y="1828800"/>
            <a:ext cx="4114440" cy="41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Box 1"/>
          <p:cNvSpPr/>
          <p:nvPr/>
        </p:nvSpPr>
        <p:spPr>
          <a:xfrm>
            <a:off x="914400" y="1371600"/>
            <a:ext cx="6400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История возникновения праздника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2"/>
          <p:cNvSpPr/>
          <p:nvPr/>
        </p:nvSpPr>
        <p:spPr>
          <a:xfrm>
            <a:off x="914400" y="2560320"/>
            <a:ext cx="6400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Инициатива прозвучала в 1910 году в Копенгагене.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В 1917 году женщины Петрограда вышли на улицы.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С 1965 года 8 Марта стало выходным днем в СССР.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" name="Picture 3" descr="cat_generated.png"/>
          <p:cNvPicPr/>
          <p:nvPr/>
        </p:nvPicPr>
        <p:blipFill>
          <a:blip r:embed="rId1"/>
          <a:stretch/>
        </p:blipFill>
        <p:spPr>
          <a:xfrm>
            <a:off x="7498080" y="1828800"/>
            <a:ext cx="4114440" cy="41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Box 1"/>
          <p:cNvSpPr/>
          <p:nvPr/>
        </p:nvSpPr>
        <p:spPr>
          <a:xfrm>
            <a:off x="914400" y="1371600"/>
            <a:ext cx="6400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Роль женщины в обществе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2"/>
          <p:cNvSpPr/>
          <p:nvPr/>
        </p:nvSpPr>
        <p:spPr>
          <a:xfrm>
            <a:off x="914400" y="2560320"/>
            <a:ext cx="6400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Женщины играют ключевую роль в науке и культуре.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Современная женщина успешно совмещает карьеру и семью.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Равноправие — главная ценность современности.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Picture 3" descr="cat_generated.png"/>
          <p:cNvPicPr/>
          <p:nvPr/>
        </p:nvPicPr>
        <p:blipFill>
          <a:blip r:embed="rId1"/>
          <a:stretch/>
        </p:blipFill>
        <p:spPr>
          <a:xfrm>
            <a:off x="7498080" y="1828800"/>
            <a:ext cx="4114440" cy="41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Box 1"/>
          <p:cNvSpPr/>
          <p:nvPr/>
        </p:nvSpPr>
        <p:spPr>
          <a:xfrm>
            <a:off x="914400" y="1371600"/>
            <a:ext cx="6400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Женщины-лидеры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2"/>
          <p:cNvSpPr/>
          <p:nvPr/>
        </p:nvSpPr>
        <p:spPr>
          <a:xfrm>
            <a:off x="914400" y="2560320"/>
            <a:ext cx="6400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История знает множество великих женщин-новаторов.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Их примеры доказывают безграничность таланта.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Мы гордимся достижениями российских женщин.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1" name="Picture 3" descr="cat_generated.png"/>
          <p:cNvPicPr/>
          <p:nvPr/>
        </p:nvPicPr>
        <p:blipFill>
          <a:blip r:embed="rId1"/>
          <a:stretch/>
        </p:blipFill>
        <p:spPr>
          <a:xfrm>
            <a:off x="7498080" y="1828800"/>
            <a:ext cx="4114440" cy="41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Box 1"/>
          <p:cNvSpPr/>
          <p:nvPr/>
        </p:nvSpPr>
        <p:spPr>
          <a:xfrm>
            <a:off x="914400" y="1371600"/>
            <a:ext cx="6400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Весна и красота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2"/>
          <p:cNvSpPr/>
          <p:nvPr/>
        </p:nvSpPr>
        <p:spPr>
          <a:xfrm>
            <a:off x="914400" y="2560320"/>
            <a:ext cx="6400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8 Марта неразрывно связано с пробуждением природы.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Тюльпаны и мимозы — традиционные символы праздника.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День комплиментов, заботы и улыбок.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Picture 3" descr="cat_generated.png"/>
          <p:cNvPicPr/>
          <p:nvPr/>
        </p:nvPicPr>
        <p:blipFill>
          <a:blip r:embed="rId1"/>
          <a:stretch/>
        </p:blipFill>
        <p:spPr>
          <a:xfrm>
            <a:off x="7498080" y="1828800"/>
            <a:ext cx="4114440" cy="41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1"/>
          <p:cNvSpPr/>
          <p:nvPr/>
        </p:nvSpPr>
        <p:spPr>
          <a:xfrm>
            <a:off x="914400" y="1371600"/>
            <a:ext cx="6400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Семейные ценности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2"/>
          <p:cNvSpPr/>
          <p:nvPr/>
        </p:nvSpPr>
        <p:spPr>
          <a:xfrm>
            <a:off x="914400" y="2560320"/>
            <a:ext cx="6400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Женщина — хранительница домашнего очага.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Материнская любовь формирует будущее поколений.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Праздник напоминает о важности бережного отношения.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Picture 3" descr="cat_generated.png"/>
          <p:cNvPicPr/>
          <p:nvPr/>
        </p:nvPicPr>
        <p:blipFill>
          <a:blip r:embed="rId1"/>
          <a:stretch/>
        </p:blipFill>
        <p:spPr>
          <a:xfrm>
            <a:off x="7498080" y="1828800"/>
            <a:ext cx="4114440" cy="41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Box 1"/>
          <p:cNvSpPr/>
          <p:nvPr/>
        </p:nvSpPr>
        <p:spPr>
          <a:xfrm>
            <a:off x="914400" y="1371600"/>
            <a:ext cx="6400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ru-RU" sz="32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Поздравляем с праздником!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2"/>
          <p:cNvSpPr/>
          <p:nvPr/>
        </p:nvSpPr>
        <p:spPr>
          <a:xfrm>
            <a:off x="914400" y="2560320"/>
            <a:ext cx="6400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Желаем здоровья, энергии и женского счастья!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Пусть каждый день приносит радость.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ru-RU" sz="2000" strike="noStrike" u="none">
                <a:solidFill>
                  <a:srgbClr val="034185"/>
                </a:solidFill>
                <a:effectLst/>
                <a:uFillTx/>
                <a:latin typeface="Montserrat"/>
              </a:rPr>
              <a:t>С Международным женским днем!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0" name="Picture 3" descr="cat_generated.png"/>
          <p:cNvPicPr/>
          <p:nvPr/>
        </p:nvPicPr>
        <p:blipFill>
          <a:blip r:embed="rId1"/>
          <a:stretch/>
        </p:blipFill>
        <p:spPr>
          <a:xfrm>
            <a:off x="7498080" y="1828800"/>
            <a:ext cx="4114440" cy="41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523880" y="2299680"/>
            <a:ext cx="9142920" cy="87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6000" strike="noStrike" u="none">
                <a:solidFill>
                  <a:schemeClr val="lt1"/>
                </a:solidFill>
                <a:effectLst/>
                <a:uFillTx/>
                <a:latin typeface="Times New Roman"/>
              </a:rPr>
              <a:t>Спасибо за внимание!</a:t>
            </a:r>
            <a:endParaRPr b="0" lang="ru-RU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subTitle"/>
          </p:nvPr>
        </p:nvSpPr>
        <p:spPr>
          <a:xfrm>
            <a:off x="1523880" y="3855960"/>
            <a:ext cx="9142920" cy="232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trike="noStrike" u="none">
                <a:solidFill>
                  <a:schemeClr val="lt1"/>
                </a:solidFill>
                <a:effectLst/>
                <a:uFillTx/>
                <a:latin typeface="Times New Roman"/>
              </a:rPr>
              <a:t>Наши контакты:</a:t>
            </a:r>
            <a:endParaRPr b="0" lang="ru-RU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lt1"/>
                </a:solidFill>
                <a:effectLst/>
                <a:uFillTx/>
                <a:latin typeface="Times New Roman"/>
              </a:rPr>
              <a:t>117105, г. Москва, Варшавское шоссе, д. 16А   </a:t>
            </a:r>
            <a:endParaRPr b="0" lang="ru-RU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lt1"/>
                </a:solidFill>
                <a:effectLst/>
                <a:uFillTx/>
                <a:latin typeface="Times New Roman"/>
              </a:rPr>
              <a:t>тел.: 8 (499)418-00-02   e-mail: mkramn@inbox.ru</a:t>
            </a:r>
            <a:endParaRPr b="0" lang="ru-RU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Times New Roman"/>
              </a:rPr>
              <a:t>www.mkramn.ru</a:t>
            </a:r>
            <a:endParaRPr b="0" lang="ru-RU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LibreOffice/25.2.6.2$Linux_X86_64 LibreOffice_project/520$Build-2</Application>
  <AppVersion>15.0000</AppVersion>
  <Words>141</Words>
  <Paragraphs>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2020-04-25T15:42:00Z</dcterms:created>
  <dc:creator>Andrey PlP</dc:creator>
  <dc:description/>
  <dc:language>ru-RU</dc:language>
  <cp:lastModifiedBy/>
  <dcterms:modified xsi:type="dcterms:W3CDTF">2026-03-07T10:01:30Z</dcterms:modified>
  <cp:revision>53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FAFB7367369743A481923895EC17D1E5_13</vt:lpwstr>
  </property>
  <property fmtid="{D5CDD505-2E9C-101B-9397-08002B2CF9AE}" pid="3" name="KSOProductBuildVer">
    <vt:lpwstr>1049-12.2.0.19307</vt:lpwstr>
  </property>
  <property fmtid="{D5CDD505-2E9C-101B-9397-08002B2CF9AE}" pid="4" name="PresentationFormat">
    <vt:lpwstr>Произвольный</vt:lpwstr>
  </property>
  <property fmtid="{D5CDD505-2E9C-101B-9397-08002B2CF9AE}" pid="5" name="Slides">
    <vt:i4>11</vt:i4>
  </property>
</Properties>
</file>